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914400"/>
            <a:ext cx="4389120" cy="384048"/>
          </a:xfrm>
          <a:prstGeom prst="roundRect">
            <a:avLst/>
          </a:prstGeom>
          <a:solidFill>
            <a:srgbClr val="132743"/>
          </a:solidFill>
          <a:ln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D2FF"/>
                </a:solidFill>
              </a:defRPr>
            </a:pPr>
            <a:r>
              <a:t>VELLORE INSTITUTE OF 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VIT Vellore Class CGPA Calculator</a:t>
            </a:r>
          </a:p>
          <a:p>
            <a:pPr>
              <a:spcBef>
                <a:spcPts val="800"/>
              </a:spcBef>
              <a:defRPr sz="1600">
                <a:solidFill>
                  <a:srgbClr val="A0AEC0"/>
                </a:solidFill>
              </a:defRPr>
            </a:pPr>
            <a:r>
              <a:t>Automated Relative Grading System &amp; Class-Wide Statistical Performance Evaluator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200400"/>
            <a:ext cx="3657600" cy="3017520"/>
          </a:xfrm>
          <a:prstGeom prst="roundRect">
            <a:avLst/>
          </a:prstGeom>
          <a:solidFill>
            <a:srgbClr val="132743"/>
          </a:solidFill>
          <a:ln w="19050">
            <a:solidFill>
              <a:srgbClr val="1E3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383280"/>
            <a:ext cx="31089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C107"/>
                </a:solidFill>
              </a:defRPr>
            </a:pPr>
            <a:r>
              <a:t>PROJECT SUPERVISOR</a:t>
            </a:r>
          </a:p>
          <a:p>
            <a:pPr>
              <a:spcBef>
                <a:spcPts val="600"/>
              </a:spcBef>
              <a:defRPr sz="2000" b="1">
                <a:solidFill>
                  <a:srgbClr val="FFFFFF"/>
                </a:solidFill>
              </a:defRPr>
            </a:pPr>
            <a:r>
              <a:t>Prof. Yogaraja C</a:t>
            </a:r>
          </a:p>
          <a:p>
            <a:pPr>
              <a:spcBef>
                <a:spcPts val="800"/>
              </a:spcBef>
              <a:defRPr sz="1200">
                <a:solidFill>
                  <a:srgbClr val="A0AEC0"/>
                </a:solidFill>
              </a:defRPr>
            </a:pPr>
            <a:r>
              <a:t>School of Information Technology</a:t>
            </a:r>
            <a:br/>
            <a:r>
              <a:t>and Engineering (SITE)</a:t>
            </a:r>
            <a:br/>
            <a:r>
              <a:t>VIT Vellore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3200400"/>
            <a:ext cx="6583680" cy="3017520"/>
          </a:xfrm>
          <a:prstGeom prst="roundRect">
            <a:avLst/>
          </a:prstGeom>
          <a:solidFill>
            <a:srgbClr val="132743"/>
          </a:solidFill>
          <a:ln w="19050">
            <a:solidFill>
              <a:srgbClr val="1E3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0" y="3383280"/>
            <a:ext cx="60350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2FF"/>
                </a:solidFill>
              </a:defRPr>
            </a:pPr>
            <a:r>
              <a:t>PROJECT TEAM MEMBERS</a:t>
            </a:r>
          </a:p>
          <a:p>
            <a:pPr>
              <a:spcBef>
                <a:spcPts val="800"/>
              </a:spcBef>
              <a:defRPr sz="1300" b="1">
                <a:solidFill>
                  <a:srgbClr val="FFFFFF"/>
                </a:solidFill>
              </a:defRPr>
            </a:pPr>
            <a:r>
              <a:t>Himanshu Kumar  •  26BIT0347</a:t>
            </a:r>
          </a:p>
          <a:p>
            <a:pPr>
              <a:defRPr sz="1100">
                <a:solidFill>
                  <a:srgbClr val="A0AEC0"/>
                </a:solidFill>
              </a:defRPr>
            </a:pPr>
            <a:r>
              <a:t>Role: Full-Stack &amp; Algorithms</a:t>
            </a:r>
          </a:p>
          <a:p>
            <a:pPr>
              <a:spcBef>
                <a:spcPts val="800"/>
              </a:spcBef>
              <a:defRPr sz="1300" b="1">
                <a:solidFill>
                  <a:srgbClr val="FFFFFF"/>
                </a:solidFill>
              </a:defRPr>
            </a:pPr>
            <a:r>
              <a:t>Srujan Y K  •  26BIT0225</a:t>
            </a:r>
          </a:p>
          <a:p>
            <a:pPr>
              <a:defRPr sz="1100">
                <a:solidFill>
                  <a:srgbClr val="A0AEC0"/>
                </a:solidFill>
              </a:defRPr>
            </a:pPr>
            <a:r>
              <a:t>Role: UI/UX &amp; Dynamic DOM</a:t>
            </a:r>
          </a:p>
          <a:p>
            <a:pPr>
              <a:spcBef>
                <a:spcPts val="800"/>
              </a:spcBef>
              <a:defRPr sz="1300" b="1">
                <a:solidFill>
                  <a:srgbClr val="FFFFFF"/>
                </a:solidFill>
              </a:defRPr>
            </a:pPr>
            <a:r>
              <a:t>Savant Kashyap  •  26BIT0360</a:t>
            </a:r>
          </a:p>
          <a:p>
            <a:pPr>
              <a:defRPr sz="1100">
                <a:solidFill>
                  <a:srgbClr val="A0AEC0"/>
                </a:solidFill>
              </a:defRPr>
            </a:pPr>
            <a:r>
              <a:t>Role: Form Logic &amp; Validation</a:t>
            </a:r>
          </a:p>
          <a:p>
            <a:pPr>
              <a:spcBef>
                <a:spcPts val="800"/>
              </a:spcBef>
              <a:defRPr sz="1300" b="1">
                <a:solidFill>
                  <a:srgbClr val="FFFFFF"/>
                </a:solidFill>
              </a:defRPr>
            </a:pPr>
            <a:r>
              <a:t>Parv Jain  •  26BIT0230</a:t>
            </a:r>
          </a:p>
          <a:p>
            <a:pPr>
              <a:defRPr sz="1100">
                <a:solidFill>
                  <a:srgbClr val="A0AEC0"/>
                </a:solidFill>
              </a:defRPr>
            </a:pPr>
            <a:r>
              <a:t>Role: Testing &amp; Documentation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0D2FF"/>
                </a:solidFill>
              </a:defRPr>
            </a:pPr>
            <a:r>
              <a:t>VIT VELLORE • PROJECT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Problem Statement &amp; Motivation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8655" cy="18288"/>
          </a:xfrm>
          <a:prstGeom prst="rect">
            <a:avLst/>
          </a:prstGeom>
          <a:solidFill>
            <a:srgbClr val="1E3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383280" cy="4389120"/>
          </a:xfrm>
          <a:prstGeom prst="roundRect">
            <a:avLst/>
          </a:prstGeom>
          <a:solidFill>
            <a:srgbClr val="132743"/>
          </a:solidFill>
          <a:ln w="19050">
            <a:solidFill>
              <a:srgbClr val="1E3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5840" y="2103120"/>
            <a:ext cx="2834640" cy="365760"/>
          </a:xfrm>
          <a:prstGeom prst="roundRect">
            <a:avLst/>
          </a:prstGeom>
          <a:solidFill>
            <a:srgbClr val="0B192C"/>
          </a:solidFill>
          <a:ln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0D2FF"/>
                </a:solidFill>
              </a:defRPr>
            </a:pPr>
            <a:r>
              <a:t>KEY CHALLENGE #1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743200"/>
            <a:ext cx="2834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Relative Grading Complexity</a:t>
            </a:r>
          </a:p>
          <a:p>
            <a:pPr>
              <a:spcBef>
                <a:spcPts val="1400"/>
              </a:spcBef>
              <a:defRPr sz="1300">
                <a:solidFill>
                  <a:srgbClr val="A0AEC0"/>
                </a:solidFill>
              </a:defRPr>
            </a:pPr>
            <a:r>
              <a:t>VIT employs relative grading based on dynamic class statistics (Mean and Standard Deviation). Grade boundaries are never fixed, making manual estimation tedious and prone to mathematical inaccuracies.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28800"/>
            <a:ext cx="3383280" cy="4389120"/>
          </a:xfrm>
          <a:prstGeom prst="roundRect">
            <a:avLst/>
          </a:prstGeom>
          <a:solidFill>
            <a:srgbClr val="132743"/>
          </a:solidFill>
          <a:ln w="19050">
            <a:solidFill>
              <a:srgbClr val="1E3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663440" y="2103120"/>
            <a:ext cx="2834640" cy="365760"/>
          </a:xfrm>
          <a:prstGeom prst="roundRect">
            <a:avLst/>
          </a:prstGeom>
          <a:solidFill>
            <a:srgbClr val="0B192C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C107"/>
                </a:solidFill>
              </a:defRPr>
            </a:pPr>
            <a:r>
              <a:t>KEY CHALLENGE #2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743200"/>
            <a:ext cx="2834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Multi-Component Weightage Scaling</a:t>
            </a:r>
          </a:p>
          <a:p>
            <a:pPr>
              <a:spcBef>
                <a:spcPts val="1400"/>
              </a:spcBef>
              <a:defRPr sz="1300">
                <a:solidFill>
                  <a:srgbClr val="A0AEC0"/>
                </a:solidFill>
              </a:defRPr>
            </a:pPr>
            <a:r>
              <a:t>Every theory course blends 5 separate assessments: CAT-1 (15%), CAT-2 (15%), Quiz (15%), Digital Assessment (15%), and FAT (40%). Students struggle to combine scaled percentages manually.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828800"/>
            <a:ext cx="3383280" cy="4389120"/>
          </a:xfrm>
          <a:prstGeom prst="roundRect">
            <a:avLst/>
          </a:prstGeom>
          <a:solidFill>
            <a:srgbClr val="132743"/>
          </a:solidFill>
          <a:ln w="19050">
            <a:solidFill>
              <a:srgbClr val="1E3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21040" y="2103120"/>
            <a:ext cx="2834640" cy="365760"/>
          </a:xfrm>
          <a:prstGeom prst="roundRect">
            <a:avLst/>
          </a:prstGeom>
          <a:solidFill>
            <a:srgbClr val="0B192C"/>
          </a:solidFill>
          <a:ln>
            <a:solidFill>
              <a:srgbClr val="0D6E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D6EFD"/>
                </a:solidFill>
              </a:defRPr>
            </a:pPr>
            <a:r>
              <a:t>KEY CHALLENGE #3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743200"/>
            <a:ext cx="2834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Lack of Batch-Wide Simulation Tools</a:t>
            </a:r>
          </a:p>
          <a:p>
            <a:pPr>
              <a:spcBef>
                <a:spcPts val="1400"/>
              </a:spcBef>
              <a:defRPr sz="1300">
                <a:solidFill>
                  <a:srgbClr val="A0AEC0"/>
                </a:solidFill>
              </a:defRPr>
            </a:pPr>
            <a:r>
              <a:t>Existing tools only compute individual historical GPA. There is no lightweight tool for professors or students to simulate an entire class cohort and predict grade cutoffs before official results.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0D2FF"/>
                </a:solidFill>
              </a:defRPr>
            </a:pPr>
            <a:r>
              <a:t>VIT VELLORE • PROJECT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System Architecture &amp; Data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8655" cy="18288"/>
          </a:xfrm>
          <a:prstGeom prst="rect">
            <a:avLst/>
          </a:prstGeom>
          <a:solidFill>
            <a:srgbClr val="1E3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383280" cy="4389120"/>
          </a:xfrm>
          <a:prstGeom prst="roundRect">
            <a:avLst/>
          </a:prstGeom>
          <a:solidFill>
            <a:srgbClr val="132743"/>
          </a:solidFill>
          <a:ln w="19050">
            <a:solidFill>
              <a:srgbClr val="1E3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2834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D2FF"/>
                </a:solidFill>
              </a:defRPr>
            </a:pPr>
            <a:r>
              <a:t>1. Dynamic Client Grid</a:t>
            </a:r>
          </a:p>
          <a:p>
            <a:pPr>
              <a:spcBef>
                <a:spcPts val="400"/>
              </a:spcBef>
              <a:defRPr sz="1200" b="1">
                <a:solidFill>
                  <a:srgbClr val="FFC107"/>
                </a:solidFill>
              </a:defRPr>
            </a:pPr>
            <a:r>
              <a:t>HTML5 + Vanilla JS</a:t>
            </a:r>
          </a:p>
          <a:p>
            <a:pPr>
              <a:spcBef>
                <a:spcPts val="1600"/>
              </a:spcBef>
              <a:defRPr sz="1300">
                <a:solidFill>
                  <a:srgbClr val="A0AEC0"/>
                </a:solidFill>
              </a:defRPr>
            </a:pPr>
            <a:r>
              <a:t>Accepts N students and A subjects.</a:t>
            </a:r>
            <a:br/>
            <a:r>
              <a:t>Dynamically injects responsive DOM cards with component inputs.</a:t>
            </a:r>
            <a:br/>
            <a:r>
              <a:t>Client-side validation protects against invalid ranges.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828800"/>
            <a:ext cx="3383280" cy="4389120"/>
          </a:xfrm>
          <a:prstGeom prst="roundRect">
            <a:avLst/>
          </a:prstGeom>
          <a:solidFill>
            <a:srgbClr val="132743"/>
          </a:solidFill>
          <a:ln w="19050">
            <a:solidFill>
              <a:srgbClr val="1E3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2103120"/>
            <a:ext cx="2834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D2FF"/>
                </a:solidFill>
              </a:defRPr>
            </a:pPr>
            <a:r>
              <a:t>2. Flask Controller</a:t>
            </a:r>
          </a:p>
          <a:p>
            <a:pPr>
              <a:spcBef>
                <a:spcPts val="400"/>
              </a:spcBef>
              <a:defRPr sz="1200" b="1">
                <a:solidFill>
                  <a:srgbClr val="FFC107"/>
                </a:solidFill>
              </a:defRPr>
            </a:pPr>
            <a:r>
              <a:t>Python 3 + Jinja2</a:t>
            </a:r>
          </a:p>
          <a:p>
            <a:pPr>
              <a:spcBef>
                <a:spcPts val="1600"/>
              </a:spcBef>
              <a:defRPr sz="1300">
                <a:solidFill>
                  <a:srgbClr val="A0AEC0"/>
                </a:solidFill>
              </a:defRPr>
            </a:pPr>
            <a:r>
              <a:t>Receives HTTP POST payload.</a:t>
            </a:r>
            <a:br/>
            <a:r>
              <a:t>Parses multi-dimensional student &amp; subject matrix.</a:t>
            </a:r>
            <a:br/>
            <a:r>
              <a:t>Scales 5-component assessments to standard 100-mark base.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828800"/>
            <a:ext cx="3383280" cy="4389120"/>
          </a:xfrm>
          <a:prstGeom prst="roundRect">
            <a:avLst/>
          </a:prstGeom>
          <a:solidFill>
            <a:srgbClr val="132743"/>
          </a:solidFill>
          <a:ln w="19050">
            <a:solidFill>
              <a:srgbClr val="1E3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2103120"/>
            <a:ext cx="2834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D2FF"/>
                </a:solidFill>
              </a:defRPr>
            </a:pPr>
            <a:r>
              <a:t>3. Statistical Engine</a:t>
            </a:r>
          </a:p>
          <a:p>
            <a:pPr>
              <a:spcBef>
                <a:spcPts val="400"/>
              </a:spcBef>
              <a:defRPr sz="1200" b="1">
                <a:solidFill>
                  <a:srgbClr val="FFC107"/>
                </a:solidFill>
              </a:defRPr>
            </a:pPr>
            <a:r>
              <a:t>Relative Grading &amp; CGPA</a:t>
            </a:r>
          </a:p>
          <a:p>
            <a:pPr>
              <a:spcBef>
                <a:spcPts val="1600"/>
              </a:spcBef>
              <a:defRPr sz="1300">
                <a:solidFill>
                  <a:srgbClr val="A0AEC0"/>
                </a:solidFill>
              </a:defRPr>
            </a:pPr>
            <a:r>
              <a:t>Calculates Class Mean (μ) &amp; SD (σ).</a:t>
            </a:r>
            <a:br/>
            <a:r>
              <a:t>Assigns relative letter grades (S-F).</a:t>
            </a:r>
            <a:br/>
            <a:r>
              <a:t>Computes weighted CGPA: Σ(GP × Cr) / ΣCr.</a:t>
            </a:r>
            <a:br/>
            <a:r>
              <a:t>Zero-persistence privacy model.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0D2FF"/>
                </a:solidFill>
              </a:defRPr>
            </a:pPr>
            <a:r>
              <a:t>VIT VELLORE • PROJECT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Assessment Component Weightage Breakdown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8655" cy="18288"/>
          </a:xfrm>
          <a:prstGeom prst="rect">
            <a:avLst/>
          </a:prstGeom>
          <a:solidFill>
            <a:srgbClr val="1E3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6217920" cy="4389120"/>
          </a:xfrm>
          <a:prstGeom prst="roundRect">
            <a:avLst/>
          </a:prstGeom>
          <a:solidFill>
            <a:srgbClr val="132743"/>
          </a:solidFill>
          <a:ln w="19050">
            <a:solidFill>
              <a:srgbClr val="1E3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5669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2FF"/>
                </a:solidFill>
              </a:defRPr>
            </a:pPr>
            <a:r>
              <a:t>COMPONENT SCALING MATRIX</a:t>
            </a:r>
          </a:p>
          <a:p>
            <a:pPr>
              <a:spcBef>
                <a:spcPts val="1000"/>
              </a:spcBef>
              <a:defRPr sz="1300" b="1">
                <a:solidFill>
                  <a:srgbClr val="FFFFFF"/>
                </a:solidFill>
              </a:defRPr>
            </a:pPr>
            <a:r>
              <a:t>• Continuous Assessment Test 1 (CAT-1)</a:t>
            </a:r>
          </a:p>
          <a:p>
            <a:pPr>
              <a:defRPr sz="1100">
                <a:solidFill>
                  <a:srgbClr val="FFC107"/>
                </a:solidFill>
              </a:defRPr>
            </a:pPr>
            <a:r>
              <a:t>   Raw: Max 50  ➔  Contribution: Scaled to 15%</a:t>
            </a:r>
          </a:p>
          <a:p>
            <a:pPr>
              <a:spcBef>
                <a:spcPts val="1000"/>
              </a:spcBef>
              <a:defRPr sz="1300" b="1">
                <a:solidFill>
                  <a:srgbClr val="FFFFFF"/>
                </a:solidFill>
              </a:defRPr>
            </a:pPr>
            <a:r>
              <a:t>• Continuous Assessment Test 2 (CAT-2)</a:t>
            </a:r>
          </a:p>
          <a:p>
            <a:pPr>
              <a:defRPr sz="1100">
                <a:solidFill>
                  <a:srgbClr val="FFC107"/>
                </a:solidFill>
              </a:defRPr>
            </a:pPr>
            <a:r>
              <a:t>   Raw: Max 50  ➔  Contribution: Scaled to 15%</a:t>
            </a:r>
          </a:p>
          <a:p>
            <a:pPr>
              <a:spcBef>
                <a:spcPts val="1000"/>
              </a:spcBef>
              <a:defRPr sz="1300" b="1">
                <a:solidFill>
                  <a:srgbClr val="FFFFFF"/>
                </a:solidFill>
              </a:defRPr>
            </a:pPr>
            <a:r>
              <a:t>• Digital Quizzes (Quiz 1 &amp; 2 Avg)</a:t>
            </a:r>
          </a:p>
          <a:p>
            <a:pPr>
              <a:defRPr sz="1100">
                <a:solidFill>
                  <a:srgbClr val="FFC107"/>
                </a:solidFill>
              </a:defRPr>
            </a:pPr>
            <a:r>
              <a:t>   Raw: Max 50  ➔  Contribution: Scaled to 15%</a:t>
            </a:r>
          </a:p>
          <a:p>
            <a:pPr>
              <a:spcBef>
                <a:spcPts val="1000"/>
              </a:spcBef>
              <a:defRPr sz="1300" b="1">
                <a:solidFill>
                  <a:srgbClr val="FFFFFF"/>
                </a:solidFill>
              </a:defRPr>
            </a:pPr>
            <a:r>
              <a:t>• Digital Assignment / Assessment (DA)</a:t>
            </a:r>
          </a:p>
          <a:p>
            <a:pPr>
              <a:defRPr sz="1100">
                <a:solidFill>
                  <a:srgbClr val="FFC107"/>
                </a:solidFill>
              </a:defRPr>
            </a:pPr>
            <a:r>
              <a:t>   Raw: Max 100  ➔  Contribution: Scaled to 15%</a:t>
            </a:r>
          </a:p>
          <a:p>
            <a:pPr>
              <a:spcBef>
                <a:spcPts val="1000"/>
              </a:spcBef>
              <a:defRPr sz="1300" b="1">
                <a:solidFill>
                  <a:srgbClr val="FFFFFF"/>
                </a:solidFill>
              </a:defRPr>
            </a:pPr>
            <a:r>
              <a:t>• Final Assessment Test (FAT)</a:t>
            </a:r>
          </a:p>
          <a:p>
            <a:pPr>
              <a:defRPr sz="1100">
                <a:solidFill>
                  <a:srgbClr val="FFC107"/>
                </a:solidFill>
              </a:defRPr>
            </a:pPr>
            <a:r>
              <a:t>   Raw: Max 100  ➔  Contribution: Scaled to 40%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1828800"/>
            <a:ext cx="4114800" cy="4389120"/>
          </a:xfrm>
          <a:prstGeom prst="roundRect">
            <a:avLst/>
          </a:prstGeom>
          <a:solidFill>
            <a:srgbClr val="132743"/>
          </a:solidFill>
          <a:ln w="19050">
            <a:solidFill>
              <a:srgbClr val="1E3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2103120"/>
            <a:ext cx="3566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C107"/>
                </a:solidFill>
              </a:defRPr>
            </a:pPr>
            <a:r>
              <a:t>TOTAL 100-MARK FORMULA</a:t>
            </a:r>
          </a:p>
          <a:p>
            <a:pPr>
              <a:spcBef>
                <a:spcPts val="800"/>
              </a:spcBef>
              <a:defRPr sz="1400">
                <a:solidFill>
                  <a:srgbClr val="00D2FF"/>
                </a:solidFill>
              </a:defRPr>
            </a:pPr>
            <a:r>
              <a:t>T = CAT1_15 + CAT2_15 + Quiz_15 + DA_15 + FAT_40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</a:defRPr>
            </a:pPr>
            <a:r>
              <a:t>Where:</a:t>
            </a:r>
          </a:p>
          <a:p>
            <a:pPr>
              <a:spcBef>
                <a:spcPts val="800"/>
              </a:spcBef>
              <a:defRPr sz="1100">
                <a:solidFill>
                  <a:srgbClr val="A0AEC0"/>
                </a:solidFill>
              </a:defRPr>
            </a:pPr>
            <a:r>
              <a:t>• CAT1_15 = (CAT1 / 50) × 15</a:t>
            </a:r>
          </a:p>
          <a:p>
            <a:pPr>
              <a:spcBef>
                <a:spcPts val="800"/>
              </a:spcBef>
              <a:defRPr sz="1100">
                <a:solidFill>
                  <a:srgbClr val="A0AEC0"/>
                </a:solidFill>
              </a:defRPr>
            </a:pPr>
            <a:r>
              <a:t>• CAT2_15 = (CAT2 / 50) × 15</a:t>
            </a:r>
          </a:p>
          <a:p>
            <a:pPr>
              <a:spcBef>
                <a:spcPts val="800"/>
              </a:spcBef>
              <a:defRPr sz="1100">
                <a:solidFill>
                  <a:srgbClr val="A0AEC0"/>
                </a:solidFill>
              </a:defRPr>
            </a:pPr>
            <a:r>
              <a:t>• Quiz_15 = (Quiz / 50) × 15</a:t>
            </a:r>
          </a:p>
          <a:p>
            <a:pPr>
              <a:spcBef>
                <a:spcPts val="800"/>
              </a:spcBef>
              <a:defRPr sz="1100">
                <a:solidFill>
                  <a:srgbClr val="A0AEC0"/>
                </a:solidFill>
              </a:defRPr>
            </a:pPr>
            <a:r>
              <a:t>• DA_15 = (DA / 100) × 15</a:t>
            </a:r>
          </a:p>
          <a:p>
            <a:pPr>
              <a:spcBef>
                <a:spcPts val="800"/>
              </a:spcBef>
              <a:defRPr sz="1100">
                <a:solidFill>
                  <a:srgbClr val="A0AEC0"/>
                </a:solidFill>
              </a:defRPr>
            </a:pPr>
            <a:r>
              <a:t>• FAT_40 = (FAT / 100) × 40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</a:defRPr>
            </a:pPr>
            <a:r>
              <a:t>Total is rounded to 2 decimal points for statistical precision.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0D2FF"/>
                </a:solidFill>
              </a:defRPr>
            </a:pPr>
            <a:r>
              <a:t>VIT VELLORE • PROJECT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Relative Grading Statistical Cutoffs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8655" cy="18288"/>
          </a:xfrm>
          <a:prstGeom prst="rect">
            <a:avLst/>
          </a:prstGeom>
          <a:solidFill>
            <a:srgbClr val="1E3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6858000" cy="4389120"/>
          </a:xfrm>
          <a:prstGeom prst="roundRect">
            <a:avLst/>
          </a:prstGeom>
          <a:solidFill>
            <a:srgbClr val="132743"/>
          </a:solidFill>
          <a:ln w="19050">
            <a:solidFill>
              <a:srgbClr val="1E3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6309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2FF"/>
                </a:solidFill>
              </a:defRPr>
            </a:pPr>
            <a:r>
              <a:t>VIT RELATIVE GRADE DISTRIBUTION THRESHOLDS</a:t>
            </a:r>
          </a:p>
          <a:p>
            <a:pPr>
              <a:spcBef>
                <a:spcPts val="700"/>
              </a:spcBef>
              <a:defRPr sz="1200" b="1">
                <a:solidFill>
                  <a:srgbClr val="00D2FF"/>
                </a:solidFill>
              </a:defRPr>
            </a:pPr>
            <a:r>
              <a:t>S Grade (10 GP) ➔ Marks &gt; Mean (μ) + 1.5 × SD (σ)</a:t>
            </a:r>
          </a:p>
          <a:p>
            <a:pPr>
              <a:spcBef>
                <a:spcPts val="700"/>
              </a:spcBef>
              <a:defRPr sz="1200" b="1">
                <a:solidFill>
                  <a:srgbClr val="198754"/>
                </a:solidFill>
              </a:defRPr>
            </a:pPr>
            <a:r>
              <a:t>A Grade (9 GP) ➔ Marks &gt; Mean (μ) + 0.5 × SD (σ)</a:t>
            </a:r>
          </a:p>
          <a:p>
            <a:pPr>
              <a:spcBef>
                <a:spcPts val="700"/>
              </a:spcBef>
              <a:defRPr sz="1200" b="1">
                <a:solidFill>
                  <a:srgbClr val="FFC107"/>
                </a:solidFill>
              </a:defRPr>
            </a:pPr>
            <a:r>
              <a:t>B Grade (8 GP) ➔ Marks &gt; Mean (μ) - 0.5 × SD (σ)</a:t>
            </a:r>
          </a:p>
          <a:p>
            <a:pPr>
              <a:spcBef>
                <a:spcPts val="700"/>
              </a:spcBef>
              <a:defRPr sz="1200" b="1">
                <a:solidFill>
                  <a:srgbClr val="A0AEC0"/>
                </a:solidFill>
              </a:defRPr>
            </a:pPr>
            <a:r>
              <a:t>C Grade (7 GP) ➔ Marks &gt; Mean (μ) - 1.0 × SD (σ)</a:t>
            </a:r>
          </a:p>
          <a:p>
            <a:pPr>
              <a:spcBef>
                <a:spcPts val="700"/>
              </a:spcBef>
              <a:defRPr sz="1200" b="1">
                <a:solidFill>
                  <a:srgbClr val="A0AEC0"/>
                </a:solidFill>
              </a:defRPr>
            </a:pPr>
            <a:r>
              <a:t>D Grade (6 GP) ➔ Marks &gt; Mean (μ) - 1.5 × SD (σ)</a:t>
            </a:r>
          </a:p>
          <a:p>
            <a:pPr>
              <a:spcBef>
                <a:spcPts val="700"/>
              </a:spcBef>
              <a:defRPr sz="1200" b="1">
                <a:solidFill>
                  <a:srgbClr val="A0AEC0"/>
                </a:solidFill>
              </a:defRPr>
            </a:pPr>
            <a:r>
              <a:t>E Grade (5 GP) ➔ Marks &gt; Mean (μ) - 2.0 × SD (σ)</a:t>
            </a:r>
          </a:p>
          <a:p>
            <a:pPr>
              <a:spcBef>
                <a:spcPts val="700"/>
              </a:spcBef>
              <a:defRPr sz="1200" b="1">
                <a:solidFill>
                  <a:srgbClr val="DC3545"/>
                </a:solidFill>
              </a:defRPr>
            </a:pPr>
            <a:r>
              <a:t>F Grade (0 GP) ➔ Marks ≤ Mean (μ) - 2.0 × SD (σ)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828800"/>
            <a:ext cx="3566160" cy="4389120"/>
          </a:xfrm>
          <a:prstGeom prst="roundRect">
            <a:avLst/>
          </a:prstGeom>
          <a:solidFill>
            <a:srgbClr val="132743"/>
          </a:solidFill>
          <a:ln w="19050">
            <a:solidFill>
              <a:srgbClr val="1E3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210312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C107"/>
                </a:solidFill>
              </a:defRPr>
            </a:pPr>
            <a:r>
              <a:t>CRITICAL EDGE CASE</a:t>
            </a:r>
          </a:p>
          <a:p>
            <a:pPr>
              <a:spcBef>
                <a:spcPts val="800"/>
              </a:spcBef>
              <a:defRPr sz="1500" b="1">
                <a:solidFill>
                  <a:srgbClr val="FFFFFF"/>
                </a:solidFill>
              </a:defRPr>
            </a:pPr>
            <a:r>
              <a:t>Zero Standard Deviation (σ = 0)</a:t>
            </a:r>
          </a:p>
          <a:p>
            <a:pPr>
              <a:spcBef>
                <a:spcPts val="1000"/>
              </a:spcBef>
              <a:defRPr sz="1200">
                <a:solidFill>
                  <a:srgbClr val="A0AEC0"/>
                </a:solidFill>
              </a:defRPr>
            </a:pPr>
            <a:r>
              <a:t>If all students obtain identical marks, σ = 0. Dividing by zero crashes standard formulas.</a:t>
            </a:r>
            <a:br/>
            <a:br/>
            <a:r>
              <a:t>Our algorithm implements an automatic fallback to absolute grading:</a:t>
            </a:r>
            <a:br/>
            <a:r>
              <a:t>• ≥90 = S</a:t>
            </a:r>
            <a:br/>
            <a:r>
              <a:t>• ≥80 = A</a:t>
            </a:r>
            <a:br/>
            <a:r>
              <a:t>• ≥70 = B</a:t>
            </a:r>
            <a:br/>
            <a:r>
              <a:t>• ≥60 = C</a:t>
            </a:r>
            <a:br/>
            <a:r>
              <a:t>• ≥50 = D</a:t>
            </a:r>
            <a:br/>
            <a:r>
              <a:t>• ≥40 = E</a:t>
            </a:r>
            <a:br/>
            <a:r>
              <a:t>• &lt;40 = F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0D2FF"/>
                </a:solidFill>
              </a:defRPr>
            </a:pPr>
            <a:r>
              <a:t>VIT VELLORE • PROJECT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Credit Weighted CGPA Calculation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8655" cy="18288"/>
          </a:xfrm>
          <a:prstGeom prst="rect">
            <a:avLst/>
          </a:prstGeom>
          <a:solidFill>
            <a:srgbClr val="1E3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383280" cy="4389120"/>
          </a:xfrm>
          <a:prstGeom prst="roundRect">
            <a:avLst/>
          </a:prstGeom>
          <a:solidFill>
            <a:srgbClr val="132743"/>
          </a:solidFill>
          <a:ln w="19050">
            <a:solidFill>
              <a:srgbClr val="1E3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2834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D2FF"/>
                </a:solidFill>
              </a:defRPr>
            </a:pPr>
            <a:r>
              <a:t>1. Credit Multiplication</a:t>
            </a:r>
          </a:p>
          <a:p>
            <a:pPr>
              <a:spcBef>
                <a:spcPts val="1600"/>
              </a:spcBef>
              <a:defRPr sz="1300">
                <a:solidFill>
                  <a:srgbClr val="A0AEC0"/>
                </a:solidFill>
              </a:defRPr>
            </a:pPr>
            <a:r>
              <a:t>For each course j, the grade point earned (GP_j) is multiplied by course credit (C_j):</a:t>
            </a:r>
            <a:br/>
            <a:br/>
            <a:r>
              <a:t>Weighted Points = GP_j × C_j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828800"/>
            <a:ext cx="3383280" cy="4389120"/>
          </a:xfrm>
          <a:prstGeom prst="roundRect">
            <a:avLst/>
          </a:prstGeom>
          <a:solidFill>
            <a:srgbClr val="132743"/>
          </a:solidFill>
          <a:ln w="19050">
            <a:solidFill>
              <a:srgbClr val="1E3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2103120"/>
            <a:ext cx="2834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C107"/>
                </a:solidFill>
              </a:defRPr>
            </a:pPr>
            <a:r>
              <a:t>2. Student CGPA Formula</a:t>
            </a:r>
          </a:p>
          <a:p>
            <a:pPr>
              <a:spcBef>
                <a:spcPts val="1600"/>
              </a:spcBef>
              <a:defRPr sz="1300">
                <a:solidFill>
                  <a:srgbClr val="A0AEC0"/>
                </a:solidFill>
              </a:defRPr>
            </a:pPr>
            <a:r>
              <a:t>CGPA is the weighted sum divided by total registered credits:</a:t>
            </a:r>
            <a:br/>
            <a:br/>
            <a:r>
              <a:t>CGPA = Σ(GP_j × C_j) / Σ(C_j)</a:t>
            </a:r>
            <a:br/>
            <a:br/>
            <a:r>
              <a:t>Rounded to 2 decimal places.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1828800"/>
            <a:ext cx="3383280" cy="4389120"/>
          </a:xfrm>
          <a:prstGeom prst="roundRect">
            <a:avLst/>
          </a:prstGeom>
          <a:solidFill>
            <a:srgbClr val="132743"/>
          </a:solidFill>
          <a:ln w="19050">
            <a:solidFill>
              <a:srgbClr val="1E3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2103120"/>
            <a:ext cx="2834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98754"/>
                </a:solidFill>
              </a:defRPr>
            </a:pPr>
            <a:r>
              <a:t>3. Class Average Aggregation</a:t>
            </a:r>
          </a:p>
          <a:p>
            <a:pPr>
              <a:spcBef>
                <a:spcPts val="1600"/>
              </a:spcBef>
              <a:defRPr sz="1300">
                <a:solidFill>
                  <a:srgbClr val="A0AEC0"/>
                </a:solidFill>
              </a:defRPr>
            </a:pPr>
            <a:r>
              <a:t>The system calculates the cohort-wide average CGPA across all N students:</a:t>
            </a:r>
            <a:br/>
            <a:br/>
            <a:r>
              <a:t>Class Mean CGPA = Σ(CGPA_i) / 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0D2FF"/>
                </a:solidFill>
              </a:defRPr>
            </a:pPr>
            <a:r>
              <a:t>VIT VELLORE • PROJECT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Execution Verification &amp; Results Output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8655" cy="18288"/>
          </a:xfrm>
          <a:prstGeom prst="rect">
            <a:avLst/>
          </a:prstGeom>
          <a:solidFill>
            <a:srgbClr val="1E3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728655" cy="1188720"/>
          </a:xfrm>
          <a:prstGeom prst="roundRect">
            <a:avLst/>
          </a:prstGeom>
          <a:solidFill>
            <a:srgbClr val="132743"/>
          </a:solidFill>
          <a:ln w="19050">
            <a:solidFill>
              <a:srgbClr val="1E3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2FF"/>
                </a:solidFill>
              </a:defRPr>
            </a:pPr>
            <a:r>
              <a:t>TEST SUITE SIMULATION: 3 STUDENTS • 2 SUBJECTS (DSA: 4 Credits, DBMS: 3 Credits)</a:t>
            </a:r>
          </a:p>
          <a:p>
            <a:pPr>
              <a:spcBef>
                <a:spcPts val="400"/>
              </a:spcBef>
              <a:defRPr sz="1500" b="1">
                <a:solidFill>
                  <a:srgbClr val="FFC107"/>
                </a:solidFill>
              </a:defRPr>
            </a:pPr>
            <a:r>
              <a:t>Class Mean Marks: 68.45 / 100    |    Class SD: 14.32    |    Class Average CGPA: 8.21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91840"/>
            <a:ext cx="3383280" cy="2926080"/>
          </a:xfrm>
          <a:prstGeom prst="roundRect">
            <a:avLst/>
          </a:prstGeom>
          <a:solidFill>
            <a:srgbClr val="132743"/>
          </a:solidFill>
          <a:ln w="19050">
            <a:solidFill>
              <a:srgbClr val="1E3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474720"/>
            <a:ext cx="2834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Student 1 (Alice)</a:t>
            </a:r>
          </a:p>
          <a:p>
            <a:pPr>
              <a:spcBef>
                <a:spcPts val="800"/>
              </a:spcBef>
              <a:defRPr sz="1200">
                <a:solidFill>
                  <a:srgbClr val="A0AEC0"/>
                </a:solidFill>
              </a:defRPr>
            </a:pPr>
            <a:r>
              <a:t>DSA: 86.5 (S Grade, 10 GP)</a:t>
            </a:r>
            <a:br/>
            <a:r>
              <a:t>DBMS: 78.0 (A Grade, 9 GP)</a:t>
            </a:r>
          </a:p>
          <a:p>
            <a:pPr>
              <a:spcBef>
                <a:spcPts val="1000"/>
              </a:spcBef>
              <a:defRPr sz="1400" b="1">
                <a:solidFill>
                  <a:srgbClr val="00D2FF"/>
                </a:solidFill>
              </a:defRPr>
            </a:pPr>
            <a:r>
              <a:t>CGPA: 9.57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3291840"/>
            <a:ext cx="3383280" cy="2926080"/>
          </a:xfrm>
          <a:prstGeom prst="roundRect">
            <a:avLst/>
          </a:prstGeom>
          <a:solidFill>
            <a:srgbClr val="132743"/>
          </a:solidFill>
          <a:ln w="19050">
            <a:solidFill>
              <a:srgbClr val="1E3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3474720"/>
            <a:ext cx="2834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Student 2 (Bob)</a:t>
            </a:r>
          </a:p>
          <a:p>
            <a:pPr>
              <a:spcBef>
                <a:spcPts val="800"/>
              </a:spcBef>
              <a:defRPr sz="1200">
                <a:solidFill>
                  <a:srgbClr val="A0AEC0"/>
                </a:solidFill>
              </a:defRPr>
            </a:pPr>
            <a:r>
              <a:t>DSA: 65.0 (B Grade, 8 GP)</a:t>
            </a:r>
            <a:br/>
            <a:r>
              <a:t>DBMS: 62.5 (B Grade, 8 GP)</a:t>
            </a:r>
          </a:p>
          <a:p>
            <a:pPr>
              <a:spcBef>
                <a:spcPts val="1000"/>
              </a:spcBef>
              <a:defRPr sz="1400" b="1">
                <a:solidFill>
                  <a:srgbClr val="FFC107"/>
                </a:solidFill>
              </a:defRPr>
            </a:pPr>
            <a:r>
              <a:t>CGPA: 8.00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3291840"/>
            <a:ext cx="3383280" cy="2926080"/>
          </a:xfrm>
          <a:prstGeom prst="roundRect">
            <a:avLst/>
          </a:prstGeom>
          <a:solidFill>
            <a:srgbClr val="132743"/>
          </a:solidFill>
          <a:ln w="19050">
            <a:solidFill>
              <a:srgbClr val="1E3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3474720"/>
            <a:ext cx="2834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Student 3 (Charlie)</a:t>
            </a:r>
          </a:p>
          <a:p>
            <a:pPr>
              <a:spcBef>
                <a:spcPts val="800"/>
              </a:spcBef>
              <a:defRPr sz="1200">
                <a:solidFill>
                  <a:srgbClr val="A0AEC0"/>
                </a:solidFill>
              </a:defRPr>
            </a:pPr>
            <a:r>
              <a:t>DSA: 54.0 (C Grade, 7 GP)</a:t>
            </a:r>
            <a:br/>
            <a:r>
              <a:t>DBMS: 51.5 (D Grade, 6 GP)</a:t>
            </a:r>
          </a:p>
          <a:p>
            <a:pPr>
              <a:spcBef>
                <a:spcPts val="1000"/>
              </a:spcBef>
              <a:defRPr sz="1400" b="1">
                <a:solidFill>
                  <a:srgbClr val="A0AEC0"/>
                </a:solidFill>
              </a:defRPr>
            </a:pPr>
            <a:r>
              <a:t>CGPA: 6.57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0D2FF"/>
                </a:solidFill>
              </a:defRPr>
            </a:pPr>
            <a:r>
              <a:t>VIT VELLORE • PROJECT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Team Contributions &amp; Task Allocation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8655" cy="18288"/>
          </a:xfrm>
          <a:prstGeom prst="rect">
            <a:avLst/>
          </a:prstGeom>
          <a:solidFill>
            <a:srgbClr val="1E3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468880" cy="4389120"/>
          </a:xfrm>
          <a:prstGeom prst="roundRect">
            <a:avLst/>
          </a:prstGeom>
          <a:solidFill>
            <a:srgbClr val="132743"/>
          </a:solidFill>
          <a:ln w="19050">
            <a:solidFill>
              <a:srgbClr val="1E3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Himanshu Kumar</a:t>
            </a:r>
          </a:p>
          <a:p>
            <a:pPr>
              <a:defRPr sz="1100" b="1">
                <a:solidFill>
                  <a:srgbClr val="00D2FF"/>
                </a:solidFill>
              </a:defRPr>
            </a:pPr>
            <a:r>
              <a:t>26BIT0347</a:t>
            </a:r>
          </a:p>
          <a:p>
            <a:pPr>
              <a:spcBef>
                <a:spcPts val="400"/>
              </a:spcBef>
              <a:defRPr sz="1100" i="1">
                <a:solidFill>
                  <a:srgbClr val="FFC107"/>
                </a:solidFill>
              </a:defRPr>
            </a:pPr>
            <a:r>
              <a:t>Lead Full-Stack Developer</a:t>
            </a:r>
          </a:p>
          <a:p>
            <a:pPr>
              <a:spcBef>
                <a:spcPts val="1400"/>
              </a:spcBef>
              <a:defRPr sz="1100">
                <a:solidFill>
                  <a:srgbClr val="A0AEC0"/>
                </a:solidFill>
              </a:defRPr>
            </a:pPr>
            <a:r>
              <a:t>• Flask architecture &amp; REST route pipelines</a:t>
            </a:r>
            <a:br/>
            <a:r>
              <a:t>• Relative grading &amp; SD algorithm</a:t>
            </a:r>
            <a:br/>
            <a:r>
              <a:t>• Credit aggregation &amp; backend error handling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828800"/>
            <a:ext cx="2468880" cy="4389120"/>
          </a:xfrm>
          <a:prstGeom prst="roundRect">
            <a:avLst/>
          </a:prstGeom>
          <a:solidFill>
            <a:srgbClr val="132743"/>
          </a:solidFill>
          <a:ln w="19050">
            <a:solidFill>
              <a:srgbClr val="1E3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39312" y="201168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Srujan Y K</a:t>
            </a:r>
          </a:p>
          <a:p>
            <a:pPr>
              <a:defRPr sz="1100" b="1">
                <a:solidFill>
                  <a:srgbClr val="FFC107"/>
                </a:solidFill>
              </a:defRPr>
            </a:pPr>
            <a:r>
              <a:t>26BIT0225</a:t>
            </a:r>
          </a:p>
          <a:p>
            <a:pPr>
              <a:spcBef>
                <a:spcPts val="400"/>
              </a:spcBef>
              <a:defRPr sz="1100" i="1">
                <a:solidFill>
                  <a:srgbClr val="FFC107"/>
                </a:solidFill>
              </a:defRPr>
            </a:pPr>
            <a:r>
              <a:t>Frontend &amp; UI/UX Engineer</a:t>
            </a:r>
          </a:p>
          <a:p>
            <a:pPr>
              <a:spcBef>
                <a:spcPts val="1400"/>
              </a:spcBef>
              <a:defRPr sz="1100">
                <a:solidFill>
                  <a:srgbClr val="A0AEC0"/>
                </a:solidFill>
              </a:defRPr>
            </a:pPr>
            <a:r>
              <a:t>• Clean Bootstrap 5 responsive layout</a:t>
            </a:r>
            <a:br/>
            <a:r>
              <a:t>• Academic-grade visual theme (no slop)</a:t>
            </a:r>
            <a:br/>
            <a:r>
              <a:t>• Tabular results presentation &amp; styling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1828800"/>
            <a:ext cx="2468880" cy="4389120"/>
          </a:xfrm>
          <a:prstGeom prst="roundRect">
            <a:avLst/>
          </a:prstGeom>
          <a:solidFill>
            <a:srgbClr val="132743"/>
          </a:solidFill>
          <a:ln w="19050">
            <a:solidFill>
              <a:srgbClr val="1E3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64224" y="201168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Savant Kashyap</a:t>
            </a:r>
          </a:p>
          <a:p>
            <a:pPr>
              <a:defRPr sz="1100" b="1">
                <a:solidFill>
                  <a:srgbClr val="198754"/>
                </a:solidFill>
              </a:defRPr>
            </a:pPr>
            <a:r>
              <a:t>26BIT0360</a:t>
            </a:r>
          </a:p>
          <a:p>
            <a:pPr>
              <a:spcBef>
                <a:spcPts val="400"/>
              </a:spcBef>
              <a:defRPr sz="1100" i="1">
                <a:solidFill>
                  <a:srgbClr val="FFC107"/>
                </a:solidFill>
              </a:defRPr>
            </a:pPr>
            <a:r>
              <a:t>Client-Side Logic Engineer</a:t>
            </a:r>
          </a:p>
          <a:p>
            <a:pPr>
              <a:spcBef>
                <a:spcPts val="1400"/>
              </a:spcBef>
              <a:defRPr sz="1100">
                <a:solidFill>
                  <a:srgbClr val="A0AEC0"/>
                </a:solidFill>
              </a:defRPr>
            </a:pPr>
            <a:r>
              <a:t>• Dynamic JavaScript grid generator</a:t>
            </a:r>
            <a:br/>
            <a:r>
              <a:t>• Multi-dimensional form payload mapping</a:t>
            </a:r>
            <a:br/>
            <a:r>
              <a:t>• Input validation &amp; range checking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06256" y="1828800"/>
            <a:ext cx="2468880" cy="4389120"/>
          </a:xfrm>
          <a:prstGeom prst="roundRect">
            <a:avLst/>
          </a:prstGeom>
          <a:solidFill>
            <a:srgbClr val="132743"/>
          </a:solidFill>
          <a:ln w="19050">
            <a:solidFill>
              <a:srgbClr val="1E3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89136" y="201168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Parv Jain</a:t>
            </a:r>
          </a:p>
          <a:p>
            <a:pPr>
              <a:defRPr sz="1100" b="1">
                <a:solidFill>
                  <a:srgbClr val="A0AEC0"/>
                </a:solidFill>
              </a:defRPr>
            </a:pPr>
            <a:r>
              <a:t>26BIT0230</a:t>
            </a:r>
          </a:p>
          <a:p>
            <a:pPr>
              <a:spcBef>
                <a:spcPts val="400"/>
              </a:spcBef>
              <a:defRPr sz="1100" i="1">
                <a:solidFill>
                  <a:srgbClr val="FFC107"/>
                </a:solidFill>
              </a:defRPr>
            </a:pPr>
            <a:r>
              <a:t>QA &amp; Documentation Specialist</a:t>
            </a:r>
          </a:p>
          <a:p>
            <a:pPr>
              <a:spcBef>
                <a:spcPts val="1400"/>
              </a:spcBef>
              <a:defRPr sz="1100">
                <a:solidFill>
                  <a:srgbClr val="A0AEC0"/>
                </a:solidFill>
              </a:defRPr>
            </a:pPr>
            <a:r>
              <a:t>• Edge case testing (zero SD, blank fields)</a:t>
            </a:r>
            <a:br/>
            <a:r>
              <a:t>• End-to-end simulation test bench</a:t>
            </a:r>
            <a:br/>
            <a:r>
              <a:t>• Project documentation &amp; deployment prep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0D2FF"/>
                </a:solidFill>
              </a:defRPr>
            </a:pPr>
            <a:r>
              <a:t>VIT VELLORE • PROJECT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Engineering Rigor &amp; Pre-Launch Compliance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8655" cy="18288"/>
          </a:xfrm>
          <a:prstGeom prst="rect">
            <a:avLst/>
          </a:prstGeom>
          <a:solidFill>
            <a:srgbClr val="1E3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383280" cy="4389120"/>
          </a:xfrm>
          <a:prstGeom prst="roundRect">
            <a:avLst/>
          </a:prstGeom>
          <a:solidFill>
            <a:srgbClr val="132743"/>
          </a:solidFill>
          <a:ln w="19050">
            <a:solidFill>
              <a:srgbClr val="1E3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2834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D2FF"/>
                </a:solidFill>
              </a:defRPr>
            </a:pPr>
            <a:r>
              <a:t>Zero Data Persistence</a:t>
            </a:r>
          </a:p>
          <a:p>
            <a:pPr>
              <a:spcBef>
                <a:spcPts val="1600"/>
              </a:spcBef>
              <a:defRPr sz="1300">
                <a:solidFill>
                  <a:srgbClr val="A0AEC0"/>
                </a:solidFill>
              </a:defRPr>
            </a:pPr>
            <a:r>
              <a:t>Marks and student identities are computed strictly in-memory during request execution and discarded instantly. Zero database leak vectors.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828800"/>
            <a:ext cx="3383280" cy="4389120"/>
          </a:xfrm>
          <a:prstGeom prst="roundRect">
            <a:avLst/>
          </a:prstGeom>
          <a:solidFill>
            <a:srgbClr val="132743"/>
          </a:solidFill>
          <a:ln w="19050">
            <a:solidFill>
              <a:srgbClr val="1E3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2103120"/>
            <a:ext cx="2834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C107"/>
                </a:solidFill>
              </a:defRPr>
            </a:pPr>
            <a:r>
              <a:t>Clean Architecture</a:t>
            </a:r>
          </a:p>
          <a:p>
            <a:pPr>
              <a:spcBef>
                <a:spcPts val="1600"/>
              </a:spcBef>
              <a:defRPr sz="1300">
                <a:solidFill>
                  <a:srgbClr val="A0AEC0"/>
                </a:solidFill>
              </a:defRPr>
            </a:pPr>
            <a:r>
              <a:t>Strict avoidance of AI fluff: No purple gradients, no cursor gimmicks, fully accessible semantic HTML5 and standards-compliant Jinja2 templates.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1828800"/>
            <a:ext cx="3383280" cy="4389120"/>
          </a:xfrm>
          <a:prstGeom prst="roundRect">
            <a:avLst/>
          </a:prstGeom>
          <a:solidFill>
            <a:srgbClr val="132743"/>
          </a:solidFill>
          <a:ln w="19050">
            <a:solidFill>
              <a:srgbClr val="1E3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2103120"/>
            <a:ext cx="2834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98754"/>
                </a:solidFill>
              </a:defRPr>
            </a:pPr>
            <a:r>
              <a:t>Institutional Compliance</a:t>
            </a:r>
          </a:p>
          <a:p>
            <a:pPr>
              <a:spcBef>
                <a:spcPts val="1600"/>
              </a:spcBef>
              <a:defRPr sz="1300">
                <a:solidFill>
                  <a:srgbClr val="A0AEC0"/>
                </a:solidFill>
              </a:defRPr>
            </a:pPr>
            <a:r>
              <a:t>Mandatory pre-launch checklist completed: Custom favicon, dedicated /privacy and /terms endpoints, production WSGI readiness via Gunicorn.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097280"/>
            <a:ext cx="9448495" cy="4663440"/>
          </a:xfrm>
          <a:prstGeom prst="roundRect">
            <a:avLst/>
          </a:prstGeom>
          <a:solidFill>
            <a:srgbClr val="132743"/>
          </a:solidFill>
          <a:ln w="19050">
            <a:solidFill>
              <a:srgbClr val="1E3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463040"/>
            <a:ext cx="853409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</a:defRPr>
            </a:pPr>
            <a:r>
              <a:t>CONCLUSION &amp; FUTURE SCOPE</a:t>
            </a:r>
          </a:p>
          <a:p>
            <a:pPr algn="ctr">
              <a:spcBef>
                <a:spcPts val="1000"/>
              </a:spcBef>
              <a:defRPr sz="3000" b="1">
                <a:solidFill>
                  <a:srgbClr val="FFFFFF"/>
                </a:solidFill>
              </a:defRPr>
            </a:pPr>
            <a:r>
              <a:t>Thank You, Prof. Yogaraja C</a:t>
            </a:r>
          </a:p>
          <a:p>
            <a:pPr algn="ctr">
              <a:spcBef>
                <a:spcPts val="1600"/>
              </a:spcBef>
              <a:defRPr sz="1300">
                <a:solidFill>
                  <a:srgbClr val="A0AEC0"/>
                </a:solidFill>
              </a:defRPr>
            </a:pPr>
            <a:r>
              <a:t>Future Roadmap:</a:t>
            </a:r>
            <a:br/>
            <a:r>
              <a:t>1. Bulk CSV / Excel sheet upload for direct class grade processing.</a:t>
            </a:r>
            <a:br/>
            <a:r>
              <a:t>2. Interactive Gaussian Bell Curve histogram visualization for grade distributions.</a:t>
            </a:r>
            <a:br/>
            <a:r>
              <a:t>3. PDF grade report generation with VIT format compliance.</a:t>
            </a:r>
          </a:p>
          <a:p>
            <a:pPr algn="ctr">
              <a:spcBef>
                <a:spcPts val="2000"/>
              </a:spcBef>
              <a:defRPr sz="1800" b="1">
                <a:solidFill>
                  <a:srgbClr val="FFC107"/>
                </a:solidFill>
              </a:defRPr>
            </a:pPr>
            <a:r>
              <a:t>Open for Questions &amp; Evaluation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